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6256000" cy="9144000"/>
  <p:notesSz cx="9144000" cy="16256000"/>
  <p:embeddedFontLst>
    <p:embeddedFont>
      <p:font typeface="Cambria Math" panose="02040503050406030204" pitchFamily="18" charset="0"/>
      <p:regular r:id="rId11"/>
    </p:embeddedFont>
    <p:embeddedFont>
      <p:font typeface="Quattrocento Sans" panose="020B0502050000020003" pitchFamily="34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26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200" cy="9144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91297" y="723900"/>
            <a:ext cx="838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b="1" kern="0" spc="1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Systems for Personalized Content Discovery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62000" y="2476500"/>
            <a:ext cx="1270000" cy="254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62000" y="279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508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dirty="0">
                <a:solidFill>
                  <a:srgbClr val="1E1E1E"/>
                </a:solidFill>
                <a:latin typeface="Quattrocento Sans" pitchFamily="34" charset="0"/>
              </a:rPr>
              <a:t>Sahil Hussain (23124031)</a:t>
            </a:r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</a:rPr>
              <a:t>Rayyan Khan (23117114)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"/>
              </a:spcBef>
              <a:buSzPct val="100000"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31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2000" y="4699000"/>
            <a:ext cx="787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user preferences from historical ratings.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 unseen movie ratings.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personalized Top-K recommendations.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collaborative filtering and matrix factorization methods.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2000" y="673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0"/>
            <a:ext cx="787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Netflix Prize Dataset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E509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100.48M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ratings | </a:t>
            </a:r>
            <a:r>
              <a:rPr lang="en-US" sz="1800" b="1" dirty="0">
                <a:solidFill>
                  <a:srgbClr val="E509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480K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users | </a:t>
            </a:r>
            <a:r>
              <a:rPr lang="en-US" sz="1800" b="1" dirty="0">
                <a:solidFill>
                  <a:srgbClr val="E5091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17.7K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movies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98000" y="762000"/>
            <a:ext cx="6096000" cy="76200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98000" y="4064000"/>
            <a:ext cx="609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 Insert Netflix logo or workflow diagram 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0DAFFA-6E75-E23C-9DEA-49F450E45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7999" y="1878227"/>
            <a:ext cx="6096001" cy="536283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324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3500" y="406400"/>
            <a:ext cx="2197100" cy="254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324100" y="0"/>
            <a:ext cx="2324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87600" y="406400"/>
            <a:ext cx="2197100" cy="254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0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EDA Insights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62000" y="139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CHARACTERISTICS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03400"/>
          <a:ext cx="6858000" cy="21590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Users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480,189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Movies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17,770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Ratings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100,480,507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Sparsity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509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98.82%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62000" y="4216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2000" y="4622800"/>
            <a:ext cx="6858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activity is highly skewed.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Movie popularity follows a long-tail distribution.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Ratings are concentrated around 3–5 stars.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Extremely sparse user-item matrix.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62000" y="7048500"/>
            <a:ext cx="6858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62000" y="7048500"/>
            <a:ext cx="50800" cy="1016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1016000" y="7175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Takeaway: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dataset is large, sparse, and highly imbalanced, making recommendation generation challenging.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28000" y="1397000"/>
            <a:ext cx="7366000" cy="66675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128000" y="43180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 Insert plots here ]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Activity Distribution  |  Rating Distribution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/ 8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E838132-E1FF-2ECE-3D39-E261E8551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397211"/>
            <a:ext cx="7111999" cy="469041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11700" y="406400"/>
            <a:ext cx="2197100" cy="254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 Overview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397000"/>
            <a:ext cx="4572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2000" y="13970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19685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Mean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Mean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Movie Mean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588000" y="1397000"/>
            <a:ext cx="4572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88000" y="1397000"/>
            <a:ext cx="457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Collaborative Filtering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8000" y="19685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User-Based CF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Item-Based CF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14000" y="1397000"/>
            <a:ext cx="5080000" cy="4572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414000" y="1397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Factorization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414000" y="19685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Latent-factor recommendation model</a:t>
            </a:r>
            <a:endParaRPr lang="en-US" sz="1800" dirty="0"/>
          </a:p>
          <a:p>
            <a:pPr marL="285750" indent="-285750" algn="l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accelerated PyTorch implementation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3556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4000500"/>
            <a:ext cx="14732000" cy="25400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62000" y="4889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 Insert workflow diagram here ]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Ratings → Preprocessing → CF/MF Models → Rating Prediction → Top-K Recommendations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62000" y="6858000"/>
            <a:ext cx="50800" cy="1016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16000" y="6985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Takeaway: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Matrix Factorization was selected as the primary model due to its ability to learn latent preferences.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/ 8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55F43B6-832C-9B87-2E65-786D5A15B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00500"/>
            <a:ext cx="14732000" cy="4686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035800" y="406400"/>
            <a:ext cx="2197100" cy="254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Factorization Model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FORMULA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1803400"/>
            <a:ext cx="73660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1016000" y="1866900"/>
                <a:ext cx="6858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limUpp>
                            <m:limUppPr>
                              <m:ctrlPr>
                                <a:rPr lang="en-US" sz="1400" i="1" dirty="0">
                                  <a:solidFill>
                                    <a:srgbClr val="1E1E1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</m:ctrlPr>
                            </m:limUppPr>
                            <m:e>
                              <m:r>
                                <a:rPr lang="en-US" sz="1400" i="1" dirty="0">
                                  <a:solidFill>
                                    <a:srgbClr val="1E1E1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𝑟</m:t>
                              </m:r>
                            </m:e>
                            <m:lim>
                              <m:r>
                                <a:rPr lang="en-US" sz="1400" dirty="0">
                                  <a:solidFill>
                                    <a:srgbClr val="1E1E1E"/>
                                  </a:solidFill>
                                  <a:latin typeface="Cambria Math" panose="02040503050406030204" pitchFamily="18" charset="0"/>
                                  <a:ea typeface="Quattrocento Sans" pitchFamily="34" charset="-122"/>
                                  <a:cs typeface="Quattrocento Sans" pitchFamily="34" charset="-120"/>
                                </a:rPr>
                                <m:t>^</m:t>
                              </m:r>
                            </m:lim>
                          </m:limUpp>
                        </m:e>
                        <m:sub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𝑢𝑖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=</m:t>
                      </m:r>
                      <m:r>
                        <a:rPr lang="en-US" sz="2000" i="1" dirty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𝜇</m:t>
                      </m:r>
                      <m:r>
                        <a:rPr lang="en-US" sz="2000" dirty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𝑢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𝑏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1E1E1E"/>
                          </a:solidFill>
                          <a:latin typeface="Cambria Math" panose="02040503050406030204" pitchFamily="18" charset="0"/>
                          <a:ea typeface="Quattrocento Sans" pitchFamily="34" charset="-122"/>
                          <a:cs typeface="Quattrocento Sans" pitchFamily="34" charset="-120"/>
                        </a:rPr>
                        <m:t>+</m:t>
                      </m:r>
                      <m:sSubSup>
                        <m:sSubSupPr>
                          <m:ctrlP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𝑝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𝑢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𝑞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1E1E1E"/>
                              </a:solidFill>
                              <a:latin typeface="Cambria Math" panose="02040503050406030204" pitchFamily="18" charset="0"/>
                              <a:ea typeface="Quattrocento Sans" pitchFamily="34" charset="-122"/>
                              <a:cs typeface="Quattrocento Sans" pitchFamily="34" charset="-12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 12"/>
              <p:cNvSpPr/>
              <p:nvPr/>
            </p:nvSpPr>
            <p:spPr>
              <a:xfrm>
                <a:off x="1016000" y="1866900"/>
                <a:ext cx="6858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2000" dirty="0">
                    <a:solidFill>
                      <a:srgbClr val="1E1E1E"/>
                    </a:solidFill>
                    <a:latin typeface="Quattrocento Sans" pitchFamily="34" charset="0"/>
                    <a:ea typeface="Quattrocento Sans" pitchFamily="34" charset="-122"/>
                    <a:cs typeface="Quattrocento Sans" pitchFamily="34" charset="-120"/>
                  </a:rPr>
                  <a:t>\( \hat{r}_{ui} = \mu + b_u + b_i + p_u^T q_i \)</a:t>
                </a:r>
                <a:endParaRPr lang="en-US" sz="2000" dirty="0"/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762000" y="292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3327400"/>
            <a:ext cx="7366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μ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global mean rating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r>
              <a:rPr lang="en-US" sz="1800" b="1" baseline="-40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user bias term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r>
              <a:rPr lang="en-US" sz="1800" b="1" baseline="-40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movie bias term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r>
              <a:rPr lang="en-US" sz="1800" b="1" baseline="-40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user latent factor embedding</a:t>
            </a:r>
            <a:endParaRPr lang="en-US" sz="1800" dirty="0"/>
          </a:p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8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</a:t>
            </a:r>
            <a:r>
              <a:rPr lang="en-US" sz="1800" b="1" baseline="-40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movie latent factor embedding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6477000"/>
            <a:ext cx="736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62000" y="6477000"/>
            <a:ext cx="50800" cy="1016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16000" y="66040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Takeaway: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Latent factors capture hidden relationships between users and movies.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1397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CONFIGURATION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36000" y="1803400"/>
          <a:ext cx="6858000" cy="33020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Parameter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Latent Factors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Optimizer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Adam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Batch Size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509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262,144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43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Epochs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Device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509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GPU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59900" y="406400"/>
            <a:ext cx="2197100" cy="254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Setup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/ VALIDATION / TEST SPLIT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03400"/>
          <a:ext cx="6858000" cy="17259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Split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Ratio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Purpose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Train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509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 training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Validation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Hyperparameter tuning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Test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Final evaluation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374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2000" y="41529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Measures rating prediction accuracy.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MAP@10</a:t>
            </a: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Measures recommendation ranking quality.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Relevant movie: Rating ≥ 4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62000" y="6731000"/>
            <a:ext cx="6858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62000" y="6731000"/>
            <a:ext cx="50800" cy="1016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016000" y="6858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Takeaway: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prediction accuracy and recommendation quality were evaluated.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28000" y="1397000"/>
            <a:ext cx="7366000" cy="63500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128000" y="4191000"/>
            <a:ext cx="736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 Insert recommendation pipeline diagram ]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Unseen Movies → Predict → Rank → Top-10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8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09308F0-7EBE-E2F2-B07C-DEF83D64E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397000"/>
            <a:ext cx="7366000" cy="643726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20500" y="0"/>
            <a:ext cx="2324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684000" y="406400"/>
            <a:ext cx="2197100" cy="254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Comparison Results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 PERFORMANCE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03400"/>
          <a:ext cx="6858000" cy="31750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Model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RMSE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Global Mean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1.0725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User Mean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0.9789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Movie Mean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0.9976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User-CF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1.0340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Item-CF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1.0137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Matrix Factorization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509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0.8135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5232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METRICS</a:t>
            </a:r>
            <a:endParaRPr lang="en-US" sz="14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638800"/>
          <a:ext cx="6858000" cy="13970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520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Value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20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MAP@10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E50914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0.04965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5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Coverage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1E1E1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9.45%</a:t>
                      </a:r>
                      <a:endParaRPr lang="en-US" sz="16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762000" y="7239000"/>
            <a:ext cx="6858000" cy="107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62000" y="7239000"/>
            <a:ext cx="50800" cy="10795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1016000" y="7366000"/>
            <a:ext cx="635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Takeaway:</a:t>
            </a: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Matrix Factorization achieved the best overall performance.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128000" y="1397000"/>
            <a:ext cx="7366000" cy="68580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8128000" y="4699000"/>
            <a:ext cx="736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 Insert bar chart of RMSE values ]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8</a:t>
            </a:r>
            <a:endParaRPr lang="en-US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DE9444-02AF-8267-9F0C-A37136EAC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002692"/>
            <a:ext cx="7268519" cy="39823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000" y="711200"/>
            <a:ext cx="762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 Examples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000" y="139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USER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2000" y="1879600"/>
            <a:ext cx="6858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62000" y="18796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Previously Liked Movies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514600"/>
            <a:ext cx="635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Streets of Fire</a:t>
            </a:r>
            <a:endParaRPr lang="en-US" sz="1800" dirty="0"/>
          </a:p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Amadeus</a:t>
            </a:r>
            <a:endParaRPr lang="en-US" sz="1800" dirty="0"/>
          </a:p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Dangerous Liaisons</a:t>
            </a:r>
            <a:endParaRPr lang="en-US" sz="1800" dirty="0"/>
          </a:p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Moonlighting: The Pilot</a:t>
            </a:r>
            <a:endParaRPr lang="en-US" sz="1800" dirty="0"/>
          </a:p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Ninth Gate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28000" y="1879600"/>
            <a:ext cx="7366000" cy="4572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128000" y="1879600"/>
            <a:ext cx="736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Movies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25146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Independence Day</a:t>
            </a:r>
            <a:endParaRPr lang="en-US" sz="1800" dirty="0"/>
          </a:p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Silence of the Lambs</a:t>
            </a:r>
            <a:endParaRPr lang="en-US" sz="1800" dirty="0"/>
          </a:p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Pretty Woman</a:t>
            </a:r>
            <a:endParaRPr lang="en-US" sz="1800" dirty="0"/>
          </a:p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Lord of the Rings: Fellowship of the Ring</a:t>
            </a:r>
            <a:endParaRPr lang="en-US" sz="1800" dirty="0"/>
          </a:p>
          <a:p>
            <a:pPr marL="285750" indent="-285750" algn="l">
              <a:lnSpc>
                <a:spcPct val="18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Green Mile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546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2000" y="5905500"/>
            <a:ext cx="1473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62000" y="5905500"/>
            <a:ext cx="50800" cy="1270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16000" y="6032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Recommendations align with the user's historical interests.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successfully captures latent movie preferences.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7493000"/>
            <a:ext cx="14732000" cy="444500"/>
          </a:xfrm>
          <a:prstGeom prst="rect">
            <a:avLst/>
          </a:prstGeom>
          <a:solidFill>
            <a:srgbClr val="FFFFFF"/>
          </a:solidFill>
          <a:ln w="12700"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62000" y="7493000"/>
            <a:ext cx="147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 Space reserved for visual table layout: Liked Movies | Recommended Movies ]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EDA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944600" y="0"/>
            <a:ext cx="2311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008100" y="406400"/>
            <a:ext cx="2184400" cy="254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2000" y="7112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000" y="1803400"/>
            <a:ext cx="711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and compared User-CF, Item-CF, and Matrix Factorization.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Factorization achieved the best RMSE and recommendation quality.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generated personalized movie recommendations.</a:t>
            </a:r>
            <a:endParaRPr lang="en-US" sz="1800" dirty="0"/>
          </a:p>
          <a:p>
            <a:pPr marL="285750" indent="-285750" algn="l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Demonstrated effectiveness of latent-factor models on large-scale sparse data.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5143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2000" y="5575300"/>
            <a:ext cx="2159000" cy="1143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62000" y="5651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0.8135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62000" y="6223000"/>
            <a:ext cx="215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75000" y="5575300"/>
            <a:ext cx="2159000" cy="1143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175000" y="5651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0.04965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175000" y="6223000"/>
            <a:ext cx="215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MAP@10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88000" y="5575300"/>
            <a:ext cx="2159000" cy="1143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88000" y="5651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9.45%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88000" y="6223000"/>
            <a:ext cx="215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82000" y="1397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kern="0" spc="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82000" y="1803400"/>
            <a:ext cx="7112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recommendation systems.</a:t>
            </a:r>
            <a:endParaRPr lang="en-US" sz="1800" dirty="0"/>
          </a:p>
          <a:p>
            <a:pPr marL="285750" indent="-285750" algn="l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Cold-start handling.</a:t>
            </a:r>
            <a:endParaRPr lang="en-US" sz="1800" dirty="0"/>
          </a:p>
          <a:p>
            <a:pPr marL="285750" indent="-285750" algn="l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Content-based features.</a:t>
            </a:r>
            <a:endParaRPr lang="en-US" sz="1800" dirty="0"/>
          </a:p>
          <a:p>
            <a:pPr marL="285750" indent="-285750" algn="l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Ranking-aware loss functions.</a:t>
            </a:r>
            <a:endParaRPr lang="en-US" sz="1800" dirty="0"/>
          </a:p>
          <a:p>
            <a:pPr marL="285750" indent="-285750" algn="l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Diversity-aware recommendations.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7048500"/>
            <a:ext cx="14732000" cy="1524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62000" y="7048500"/>
            <a:ext cx="76200" cy="1524000"/>
          </a:xfrm>
          <a:prstGeom prst="rect">
            <a:avLst/>
          </a:prstGeom>
          <a:solidFill>
            <a:srgbClr val="E509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143000" y="7175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kern="0" spc="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TAKEAWAY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7493000"/>
            <a:ext cx="1397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Matrix Factorization significantly outperformed neighborhood-based methods and proved most effective for personalized content discovery on the Netflix dataset.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663</Words>
  <Application>Microsoft Office PowerPoint</Application>
  <PresentationFormat>Custom</PresentationFormat>
  <Paragraphs>220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Quattrocento Sans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 Systems for Personalized Content Discovery</dc:title>
  <dc:subject>Recommendation Systems for Personalized Content Discovery</dc:subject>
  <dc:creator>Kimi</dc:creator>
  <cp:lastModifiedBy>RAYYAN KHAN</cp:lastModifiedBy>
  <cp:revision>4</cp:revision>
  <dcterms:created xsi:type="dcterms:W3CDTF">2026-06-12T17:20:46Z</dcterms:created>
  <dcterms:modified xsi:type="dcterms:W3CDTF">2026-06-12T18:29:46Z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{"Label":"Recommendation Systems for Personalized Content Discovery","ContentProducer":"001191110108MACG2KBH8F10000","ProduceID":"19ebccd0-d092-81b5-8000-00005782fec0","ReservedCode1":"","ContentPropagator":"001191110108MACG2KBH8F20000","PropagateID":"19ebcc66-9a32-8eac-8000-09c5c1114ceb","ReservedCode2":""}</vt:lpwstr>
  </property>
</Properties>
</file>